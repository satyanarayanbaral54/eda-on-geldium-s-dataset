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63" r:id="rId4"/>
    <p:sldId id="259" r:id="rId5"/>
    <p:sldId id="260" r:id="rId6"/>
    <p:sldId id="261" r:id="rId7"/>
    <p:sldId id="264" r:id="rId8"/>
    <p:sldId id="262" r:id="rId9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Slab" pitchFamily="2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706" autoAdjust="0"/>
  </p:normalViewPr>
  <p:slideViewPr>
    <p:cSldViewPr snapToGrid="0">
      <p:cViewPr varScale="1">
        <p:scale>
          <a:sx n="126" d="100"/>
          <a:sy n="126" d="100"/>
        </p:scale>
        <p:origin x="202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3910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200" b="1" dirty="0"/>
              <a:t>Inputs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200" dirty="0"/>
              <a:t>Customer profile (income, employment, demographics)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200" dirty="0"/>
              <a:t>Loan details (amount, EMI, tenure)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200" dirty="0"/>
              <a:t>Repayment history (missed/late payments)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200" dirty="0"/>
              <a:t>Transaction patterns (cash flow behavior)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200" dirty="0"/>
              <a:t>Credit score &amp; external bureau data </a:t>
            </a:r>
          </a:p>
          <a:p>
            <a:r>
              <a:rPr lang="en-IN" sz="1200" b="1" dirty="0"/>
              <a:t>Decision Logic</a:t>
            </a:r>
          </a:p>
          <a:p>
            <a:pPr marL="114300" indent="0">
              <a:buNone/>
            </a:pPr>
            <a:r>
              <a:rPr lang="en-IN" sz="1200" dirty="0"/>
              <a:t>            Rule-based checks (e.g., days past due, missed payments) </a:t>
            </a:r>
          </a:p>
          <a:p>
            <a:r>
              <a:rPr lang="en-IN" sz="1200" dirty="0"/>
              <a:t>AI model predicts: </a:t>
            </a:r>
          </a:p>
          <a:p>
            <a:pPr lvl="1"/>
            <a:r>
              <a:rPr lang="en-IN" sz="1200" dirty="0"/>
              <a:t>Default probability </a:t>
            </a:r>
          </a:p>
          <a:p>
            <a:pPr lvl="1"/>
            <a:r>
              <a:rPr lang="en-IN" sz="1200" dirty="0"/>
              <a:t>Customer responsiveness </a:t>
            </a:r>
          </a:p>
          <a:p>
            <a:r>
              <a:rPr lang="en-IN" sz="1200" dirty="0"/>
              <a:t>Risk segmentation: </a:t>
            </a:r>
          </a:p>
          <a:p>
            <a:pPr lvl="1"/>
            <a:r>
              <a:rPr lang="en-IN" sz="1200" dirty="0"/>
              <a:t>Low Risk </a:t>
            </a:r>
          </a:p>
          <a:p>
            <a:pPr lvl="1"/>
            <a:r>
              <a:rPr lang="en-IN" sz="1200" dirty="0"/>
              <a:t>Medium Risk </a:t>
            </a:r>
          </a:p>
          <a:p>
            <a:pPr lvl="1"/>
            <a:r>
              <a:rPr lang="en-IN" sz="1200" dirty="0"/>
              <a:t>High Risk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1E8E3-C1C2-2A4F-8CDB-4445C00C8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50" y="526350"/>
            <a:ext cx="6988452" cy="2755801"/>
          </a:xfrm>
        </p:spPr>
        <p:txBody>
          <a:bodyPr>
            <a:normAutofit/>
          </a:bodyPr>
          <a:lstStyle/>
          <a:p>
            <a:r>
              <a:rPr lang="en-US" sz="1200" b="1" dirty="0"/>
              <a:t>Actions</a:t>
            </a:r>
            <a:br>
              <a:rPr lang="en-US" sz="1200" b="1" dirty="0"/>
            </a:br>
            <a:br>
              <a:rPr lang="en-US" sz="1200" b="1" dirty="0"/>
            </a:br>
            <a:r>
              <a:rPr lang="en-US" sz="1200" dirty="0"/>
              <a:t>Low Risk: Automated reminders (SMS/email), gentle nudges </a:t>
            </a:r>
            <a:br>
              <a:rPr lang="en-US" sz="1200" dirty="0"/>
            </a:br>
            <a:r>
              <a:rPr lang="en-US" sz="1200" dirty="0"/>
              <a:t>Medium Risk: Personalized payment plans, agent follow-ups </a:t>
            </a:r>
            <a:br>
              <a:rPr lang="en-US" sz="1200" dirty="0"/>
            </a:br>
            <a:r>
              <a:rPr lang="en-US" sz="1200" dirty="0"/>
              <a:t>High Risk: Escalation to human agents, legal/recovery actions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 </a:t>
            </a:r>
            <a:br>
              <a:rPr lang="en-US" sz="1200" dirty="0"/>
            </a:br>
            <a:r>
              <a:rPr lang="en-US" sz="1200" b="1" dirty="0"/>
              <a:t>Learning Loop</a:t>
            </a:r>
            <a:br>
              <a:rPr lang="en-US" sz="1200" b="1" dirty="0"/>
            </a:br>
            <a:br>
              <a:rPr lang="en-US" sz="1200" b="1" dirty="0"/>
            </a:br>
            <a:r>
              <a:rPr lang="en-US" sz="1200" dirty="0"/>
              <a:t>Track outcomes (paid / delayed / default) </a:t>
            </a:r>
            <a:br>
              <a:rPr lang="en-US" sz="1200" dirty="0"/>
            </a:br>
            <a:r>
              <a:rPr lang="en-US" sz="1200" dirty="0"/>
              <a:t>Capture customer responses to actions </a:t>
            </a:r>
            <a:br>
              <a:rPr lang="en-US" sz="1200" dirty="0"/>
            </a:br>
            <a:r>
              <a:rPr lang="en-US" sz="1200" dirty="0"/>
              <a:t>Update AI model with new data </a:t>
            </a:r>
            <a:br>
              <a:rPr lang="en-US" sz="1200" dirty="0"/>
            </a:br>
            <a:r>
              <a:rPr lang="en-US" sz="1200" dirty="0"/>
              <a:t>Continuously improve decision accuracy and strategies</a:t>
            </a:r>
            <a:br>
              <a:rPr lang="en-US" sz="1200" dirty="0"/>
            </a:br>
            <a:endParaRPr lang="en-IN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02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Role of Agentic AI</a:t>
            </a:r>
            <a:endParaRPr dirty="0"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endParaRPr lang="en-GB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1F25AC8-9EAE-E45E-D6F2-9B5B26EA1E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005581"/>
              </p:ext>
            </p:extLst>
          </p:nvPr>
        </p:nvGraphicFramePr>
        <p:xfrm>
          <a:off x="387350" y="1855470"/>
          <a:ext cx="8369300" cy="234696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184650">
                  <a:extLst>
                    <a:ext uri="{9D8B030D-6E8A-4147-A177-3AD203B41FA5}">
                      <a16:colId xmlns:a16="http://schemas.microsoft.com/office/drawing/2014/main" val="1894848236"/>
                    </a:ext>
                  </a:extLst>
                </a:gridCol>
                <a:gridCol w="4184650">
                  <a:extLst>
                    <a:ext uri="{9D8B030D-6E8A-4147-A177-3AD203B41FA5}">
                      <a16:colId xmlns:a16="http://schemas.microsoft.com/office/drawing/2014/main" val="13741269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Autonomous (Agentic AI)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Human Oversight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9599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Real-time risk scoring of 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Reviewing high-risk or sensitive cases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6123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Segmenting customers (low/medium/high risk)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Approving major decisions (e.g., legal action)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3517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Sending automated reminders (SMS/email/chatbots)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Handling customer disputes or complaints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0099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Recommending personalized repayment plans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Validating fairness and bias in decisions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8437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Monitoring customer behavior continuously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Auditing system decisions for compliance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5710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Optimizing communication timing and channels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Intervening in exceptional or complex cases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5009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/>
              <a:t>Fairness &amp; Bias Monitoring:</a:t>
            </a:r>
            <a:r>
              <a:rPr lang="en-US" sz="1600" dirty="0"/>
              <a:t> Regularly test models for bias across customer groups and adjust to ensure equitable treatment. </a:t>
            </a:r>
          </a:p>
          <a:p>
            <a:r>
              <a:rPr lang="en-US" sz="1600" b="1" dirty="0"/>
              <a:t>Transparency &amp; Explainability:</a:t>
            </a:r>
            <a:r>
              <a:rPr lang="en-US" sz="1600" dirty="0"/>
              <a:t> Provide clear reasons for decisions (e.g., why a customer is flagged high risk). </a:t>
            </a:r>
          </a:p>
          <a:p>
            <a:r>
              <a:rPr lang="en-US" sz="1600" b="1" dirty="0"/>
              <a:t>Human-in-the-Loop Oversight:</a:t>
            </a:r>
            <a:r>
              <a:rPr lang="en-US" sz="1600" dirty="0"/>
              <a:t> Require human review for high-impact actions like escalations or legal steps. </a:t>
            </a:r>
          </a:p>
          <a:p>
            <a:r>
              <a:rPr lang="en-US" sz="1600" b="1" dirty="0"/>
              <a:t>Data Privacy &amp; Security:</a:t>
            </a:r>
            <a:r>
              <a:rPr lang="en-US" sz="1600" dirty="0"/>
              <a:t> Protect customer data with encryption, consent management, and strict access controls. </a:t>
            </a:r>
          </a:p>
          <a:p>
            <a:pPr>
              <a:buNone/>
            </a:pPr>
            <a:endParaRPr lang="en-GB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Expected Business Impact</a:t>
            </a:r>
            <a:endParaRPr dirty="0"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600" b="1" dirty="0"/>
              <a:t>Business KPIs (Quantitative Impact)</a:t>
            </a:r>
          </a:p>
          <a:p>
            <a:r>
              <a:rPr lang="en-US" sz="1600" b="1" dirty="0"/>
              <a:t>Reduced Delinquency Rate:</a:t>
            </a:r>
            <a:r>
              <a:rPr lang="en-US" sz="1600" dirty="0"/>
              <a:t> Earlier risk detection lowers missed payments </a:t>
            </a:r>
          </a:p>
          <a:p>
            <a:r>
              <a:rPr lang="en-US" sz="1600" b="1" dirty="0"/>
              <a:t>Higher Recovery Rate:</a:t>
            </a:r>
            <a:r>
              <a:rPr lang="en-US" sz="1600" dirty="0"/>
              <a:t> Better targeting improves collections success </a:t>
            </a:r>
          </a:p>
          <a:p>
            <a:r>
              <a:rPr lang="en-US" sz="1600" b="1" dirty="0"/>
              <a:t>Lower Operational Costs:</a:t>
            </a:r>
            <a:r>
              <a:rPr lang="en-US" sz="1600" dirty="0"/>
              <a:t> Automation reduces manual follow-ups and agent workload </a:t>
            </a:r>
          </a:p>
          <a:p>
            <a:r>
              <a:rPr lang="en-US" sz="1600" b="1" dirty="0"/>
              <a:t>Improved Agent Productivity:</a:t>
            </a:r>
            <a:r>
              <a:rPr lang="en-US" sz="1600" dirty="0"/>
              <a:t> Agents focus only on high-risk, high-value cases </a:t>
            </a:r>
          </a:p>
          <a:p>
            <a:r>
              <a:rPr lang="en-US" sz="1600" b="1" dirty="0"/>
              <a:t>Faster Resolution Time:</a:t>
            </a:r>
            <a:r>
              <a:rPr lang="en-US" sz="1600" dirty="0"/>
              <a:t> Quicker customer response and payment cycles</a:t>
            </a:r>
          </a:p>
          <a:p>
            <a:pPr>
              <a:buNone/>
            </a:pPr>
            <a:endParaRPr lang="en-GB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4B9548-C763-5DBA-6B02-FA9D6CC70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900" y="314893"/>
            <a:ext cx="8368200" cy="4253831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/>
              <a:t>Customer Outcomes (Qualitative Impact)</a:t>
            </a:r>
          </a:p>
          <a:p>
            <a:r>
              <a:rPr lang="en-US" b="1" dirty="0"/>
              <a:t>Better Customer Experience:</a:t>
            </a:r>
            <a:r>
              <a:rPr lang="en-US" dirty="0"/>
              <a:t> Timely, personalized, and less intrusive communication </a:t>
            </a:r>
          </a:p>
          <a:p>
            <a:r>
              <a:rPr lang="en-US" b="1" dirty="0"/>
              <a:t>Increased Fairness:</a:t>
            </a:r>
            <a:r>
              <a:rPr lang="en-US" dirty="0"/>
              <a:t> Consistent and bias-monitored decision-making </a:t>
            </a:r>
          </a:p>
          <a:p>
            <a:r>
              <a:rPr lang="en-US" b="1" dirty="0"/>
              <a:t>Greater Transparency:</a:t>
            </a:r>
            <a:r>
              <a:rPr lang="en-US" dirty="0"/>
              <a:t> Clear explanations for actions and repayment options </a:t>
            </a:r>
          </a:p>
          <a:p>
            <a:r>
              <a:rPr lang="en-US" b="1" dirty="0"/>
              <a:t>Reduced Stress for Customers:</a:t>
            </a:r>
            <a:r>
              <a:rPr lang="en-US" dirty="0"/>
              <a:t> Flexible repayment plans instead of aggressive recovery </a:t>
            </a:r>
          </a:p>
          <a:p>
            <a:r>
              <a:rPr lang="en-US" b="1" dirty="0"/>
              <a:t>Improved Trust in Brand:</a:t>
            </a:r>
            <a:r>
              <a:rPr lang="en-US" dirty="0"/>
              <a:t> Ethical and responsible AI usage builds long-term loyalty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4884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1367" y="2086989"/>
            <a:ext cx="6085568" cy="6861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683</Words>
  <Application>Microsoft Office PowerPoint</Application>
  <PresentationFormat>On-screen Show (16:9)</PresentationFormat>
  <Paragraphs>67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Courier New</vt:lpstr>
      <vt:lpstr>Arial</vt:lpstr>
      <vt:lpstr>Roboto Slab</vt:lpstr>
      <vt:lpstr>Roboto</vt:lpstr>
      <vt:lpstr>Marina</vt:lpstr>
      <vt:lpstr>AI-Powered Collections Strategy</vt:lpstr>
      <vt:lpstr>How the System Works</vt:lpstr>
      <vt:lpstr>Actions  Low Risk: Automated reminders (SMS/email), gentle nudges  Medium Risk: Personalized payment plans, agent follow-ups  High Risk: Escalation to human agents, legal/recovery actions    Learning Loop  Track outcomes (paid / delayed / default)  Capture customer responses to actions  Update AI model with new data  Continuously improve decision accuracy and strategies </vt:lpstr>
      <vt:lpstr>Role of Agentic AI</vt:lpstr>
      <vt:lpstr>Responsible AI Guardrails</vt:lpstr>
      <vt:lpstr>Expected Business Impact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SATYA</dc:creator>
  <cp:lastModifiedBy>Satyanarayan Baral</cp:lastModifiedBy>
  <cp:revision>3</cp:revision>
  <dcterms:modified xsi:type="dcterms:W3CDTF">2026-05-01T15:01:05Z</dcterms:modified>
</cp:coreProperties>
</file>